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6212800" cy="14630400"/>
  <p:notesSz cx="14630400" cy="2621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212800" cy="14630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212800" cy="14630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0" y="14277975"/>
            <a:ext cx="209550" cy="1333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3144500"/>
            <a:ext cx="24269700" cy="10572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67425" y="13344525"/>
            <a:ext cx="146208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78"/>
              </a:lnSpc>
              <a:buNone/>
            </a:pPr>
            <a:r>
              <a:rPr lang="en-US" sz="3027" b="1" dirty="0">
                <a:solidFill>
                  <a:srgbClr val="4E5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에너지바우처는 세대원 수에 따라</a:t>
            </a:r>
            <a:pPr algn="l" indent="0" marL="0">
              <a:lnSpc>
                <a:spcPts val="3578"/>
              </a:lnSpc>
              <a:buNone/>
            </a:pPr>
            <a:r>
              <a:rPr lang="en-US" sz="3027" b="1" dirty="0">
                <a:solidFill>
                  <a:srgbClr val="D698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295.2천 원</a:t>
            </a:r>
            <a:pPr algn="l" indent="0" marL="0">
              <a:lnSpc>
                <a:spcPts val="3578"/>
              </a:lnSpc>
              <a:buNone/>
            </a:pPr>
            <a:r>
              <a:rPr lang="en-US" sz="3027" b="1" dirty="0">
                <a:solidFill>
                  <a:srgbClr val="42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pPr algn="l" indent="0" marL="0">
              <a:lnSpc>
                <a:spcPts val="3578"/>
              </a:lnSpc>
              <a:buNone/>
            </a:pPr>
            <a:r>
              <a:rPr lang="en-US" sz="3027" b="1" dirty="0">
                <a:solidFill>
                  <a:srgbClr val="D699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701.3천 원</a:t>
            </a:r>
            <a:pPr algn="l" indent="0" marL="0">
              <a:lnSpc>
                <a:spcPts val="3578"/>
              </a:lnSpc>
              <a:buNone/>
            </a:pPr>
            <a:r>
              <a:rPr lang="en-US" sz="3027" b="1" dirty="0">
                <a:solidFill>
                  <a:srgbClr val="4E5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차등 지원합니다.</a:t>
            </a:r>
            <a:endParaRPr lang="en-US" sz="3027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13477875"/>
            <a:ext cx="333375" cy="3619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5950" y="3152775"/>
            <a:ext cx="11963400" cy="968692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1725" y="10448925"/>
            <a:ext cx="10982325" cy="194310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54625" y="10772775"/>
            <a:ext cx="695325" cy="695325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4116050" y="11563350"/>
            <a:ext cx="104013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625" b="1" dirty="0">
                <a:solidFill>
                  <a:srgbClr val="D69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pPr algn="l" indent="0" marL="0">
              <a:lnSpc>
                <a:spcPts val="3210"/>
              </a:lnSpc>
              <a:buNone/>
            </a:pPr>
            <a:r>
              <a:rPr lang="en-US" sz="2625" b="1" dirty="0">
                <a:solidFill>
                  <a:srgbClr val="5D5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정부 에너지바우처 신규 신청 접수(</a:t>
            </a:r>
            <a:pPr algn="l" indent="0" marL="0">
              <a:lnSpc>
                <a:spcPts val="3210"/>
              </a:lnSpc>
              <a:buNone/>
            </a:pPr>
            <a:r>
              <a:rPr lang="en-US" sz="2625" b="1" dirty="0">
                <a:solidFill>
                  <a:srgbClr val="DAA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15일~12월 31일</a:t>
            </a:r>
            <a:pPr algn="l" indent="0" marL="0">
              <a:lnSpc>
                <a:spcPts val="3210"/>
              </a:lnSpc>
              <a:buNone/>
            </a:pPr>
            <a:r>
              <a:rPr lang="en-US" sz="3502" b="1" dirty="0">
                <a:solidFill>
                  <a:srgbClr val="5D5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625" dirty="0"/>
          </a:p>
        </p:txBody>
      </p:sp>
      <p:sp>
        <p:nvSpPr>
          <p:cNvPr id="12" name="Text 3"/>
          <p:cNvSpPr/>
          <p:nvPr/>
        </p:nvSpPr>
        <p:spPr>
          <a:xfrm>
            <a:off x="18878550" y="10801350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90"/>
              </a:lnSpc>
              <a:buNone/>
            </a:pPr>
            <a:r>
              <a:rPr lang="en-US" sz="3209" b="1" dirty="0">
                <a:solidFill>
                  <a:srgbClr val="50B4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신청</a:t>
            </a:r>
            <a:endParaRPr lang="en-US" sz="3209" dirty="0"/>
          </a:p>
        </p:txBody>
      </p:sp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35725" y="9858375"/>
            <a:ext cx="628650" cy="438150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1725" y="7734300"/>
            <a:ext cx="10982325" cy="1933575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78425" y="8048625"/>
            <a:ext cx="847725" cy="714375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5001875" y="8848725"/>
            <a:ext cx="86487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92"/>
              </a:lnSpc>
              <a:buNone/>
            </a:pPr>
            <a:r>
              <a:rPr lang="en-US" sz="2572" b="1" dirty="0">
                <a:solidFill>
                  <a:srgbClr val="5D5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PBV산업 생태계 조성을 위한 관계기관 회의 개최(</a:t>
            </a:r>
            <a:pPr algn="l" indent="0" marL="0">
              <a:lnSpc>
                <a:spcPts val="3492"/>
              </a:lnSpc>
              <a:buNone/>
            </a:pPr>
            <a:r>
              <a:rPr lang="en-US" sz="2572" b="1" dirty="0">
                <a:solidFill>
                  <a:srgbClr val="D6A3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중</a:t>
            </a:r>
            <a:pPr algn="l" indent="0" marL="0">
              <a:lnSpc>
                <a:spcPts val="3492"/>
              </a:lnSpc>
              <a:buNone/>
            </a:pPr>
            <a:r>
              <a:rPr lang="en-US" sz="3313" b="1" dirty="0">
                <a:solidFill>
                  <a:srgbClr val="5D5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572" dirty="0"/>
          </a:p>
        </p:txBody>
      </p:sp>
      <p:sp>
        <p:nvSpPr>
          <p:cNvPr id="17" name="Text 5"/>
          <p:cNvSpPr/>
          <p:nvPr/>
        </p:nvSpPr>
        <p:spPr>
          <a:xfrm>
            <a:off x="18869025" y="8077200"/>
            <a:ext cx="1847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91"/>
              </a:lnSpc>
              <a:buNone/>
            </a:pPr>
            <a:r>
              <a:rPr lang="en-US" sz="3243" b="1" dirty="0">
                <a:solidFill>
                  <a:srgbClr val="51B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회의</a:t>
            </a:r>
            <a:endParaRPr lang="en-US" sz="3243" dirty="0"/>
          </a:p>
        </p:txBody>
      </p:sp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35725" y="7143750"/>
            <a:ext cx="628650" cy="438150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11250" y="5029200"/>
            <a:ext cx="10972800" cy="1924050"/>
          </a:xfrm>
          <a:prstGeom prst="rect">
            <a:avLst/>
          </a:prstGeom>
        </p:spPr>
      </p:pic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64150" y="5295900"/>
            <a:ext cx="695325" cy="76200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14230350" y="6124575"/>
            <a:ext cx="101631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5757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광융합산업집적화단지</a:t>
            </a:r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D99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</a:t>
            </a:r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5757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</a:t>
            </a:r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D99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32필지</a:t>
            </a:r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5757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실태조사 추진(</a:t>
            </a:r>
            <a:pPr algn="l" indent="0" marL="0">
              <a:lnSpc>
                <a:spcPts val="3298"/>
              </a:lnSpc>
              <a:buNone/>
            </a:pPr>
            <a:r>
              <a:rPr lang="en-US" sz="2746" b="1" dirty="0">
                <a:solidFill>
                  <a:srgbClr val="DAA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5월~6월</a:t>
            </a:r>
            <a:pPr algn="l" indent="0" marL="0">
              <a:lnSpc>
                <a:spcPts val="3298"/>
              </a:lnSpc>
              <a:buNone/>
            </a:pPr>
            <a:r>
              <a:rPr lang="en-US" sz="3220" b="1" dirty="0">
                <a:solidFill>
                  <a:srgbClr val="5757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746" dirty="0"/>
          </a:p>
        </p:txBody>
      </p:sp>
      <p:sp>
        <p:nvSpPr>
          <p:cNvPr id="22" name="Text 7"/>
          <p:cNvSpPr/>
          <p:nvPr/>
        </p:nvSpPr>
        <p:spPr>
          <a:xfrm>
            <a:off x="18878550" y="5353050"/>
            <a:ext cx="18478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88"/>
              </a:lnSpc>
              <a:buNone/>
            </a:pPr>
            <a:r>
              <a:rPr lang="en-US" sz="3243" b="1" dirty="0">
                <a:solidFill>
                  <a:srgbClr val="50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실태 조사</a:t>
            </a:r>
            <a:endParaRPr lang="en-US" sz="3243" dirty="0"/>
          </a:p>
        </p:txBody>
      </p:sp>
      <p:sp>
        <p:nvSpPr>
          <p:cNvPr id="23" name="Shape 8"/>
          <p:cNvSpPr/>
          <p:nvPr/>
        </p:nvSpPr>
        <p:spPr>
          <a:xfrm>
            <a:off x="13344525" y="3200400"/>
            <a:ext cx="11906250" cy="1200150"/>
          </a:xfrm>
          <a:prstGeom prst="roundRect">
            <a:avLst>
              <a:gd name="adj" fmla="val 8929"/>
            </a:avLst>
          </a:prstGeom>
          <a:solidFill>
            <a:srgbClr val="02B1ED"/>
          </a:solidFill>
          <a:ln w="9525">
            <a:solidFill>
              <a:srgbClr val="37B1D4"/>
            </a:solidFill>
            <a:prstDash val="solid"/>
          </a:ln>
        </p:spPr>
      </p:sp>
      <p:sp>
        <p:nvSpPr>
          <p:cNvPr id="24" name="Text 9"/>
          <p:cNvSpPr/>
          <p:nvPr/>
        </p:nvSpPr>
        <p:spPr>
          <a:xfrm>
            <a:off x="15792450" y="3390900"/>
            <a:ext cx="709612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85"/>
              </a:lnSpc>
              <a:buNone/>
            </a:pPr>
            <a:r>
              <a:rPr lang="en-US" sz="3939" b="1" dirty="0">
                <a:solidFill>
                  <a:srgbClr val="B2EA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민생 에너지 지원 및 산단 관리</a:t>
            </a:r>
            <a:endParaRPr lang="en-US" sz="3939" dirty="0"/>
          </a:p>
        </p:txBody>
      </p:sp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450" y="4400550"/>
            <a:ext cx="11934825" cy="8439150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0650" y="10382250"/>
            <a:ext cx="11077575" cy="1781175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0175" y="10534650"/>
            <a:ext cx="3305175" cy="13716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47825" y="10887075"/>
            <a:ext cx="819150" cy="771525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2638425" y="10944225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5"/>
              </a:lnSpc>
              <a:buNone/>
            </a:pPr>
            <a:r>
              <a:rPr lang="en-US" sz="3009" b="1" dirty="0">
                <a:solidFill>
                  <a:srgbClr val="ADC3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대학</a:t>
            </a:r>
            <a:endParaRPr lang="en-US" sz="3009" dirty="0"/>
          </a:p>
        </p:txBody>
      </p:sp>
      <p:sp>
        <p:nvSpPr>
          <p:cNvPr id="30" name="Text 11"/>
          <p:cNvSpPr/>
          <p:nvPr/>
        </p:nvSpPr>
        <p:spPr>
          <a:xfrm>
            <a:off x="5038725" y="10696575"/>
            <a:ext cx="615315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5"/>
              </a:lnSpc>
              <a:buNone/>
            </a:pPr>
            <a:r>
              <a:rPr lang="en-US" sz="2654" b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투자유치 및 직무역량 강화를 위한</a:t>
            </a:r>
            <a:endParaRPr lang="en-US" sz="2654" dirty="0"/>
          </a:p>
          <a:p>
            <a:pPr algn="l" indent="0" marL="0">
              <a:lnSpc>
                <a:spcPts val="4105"/>
              </a:lnSpc>
              <a:buNone/>
            </a:pPr>
            <a:r>
              <a:rPr lang="en-US" sz="2654" b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사내대학 프로그램 운영(</a:t>
            </a:r>
            <a:endParaRPr lang="en-US" sz="2654" dirty="0"/>
          </a:p>
          <a:p>
            <a:pPr algn="l" indent="0" marL="0">
              <a:lnSpc>
                <a:spcPts val="4105"/>
              </a:lnSpc>
              <a:buNone/>
            </a:pPr>
            <a:r>
              <a:rPr lang="en-US" sz="2654" b="1" dirty="0">
                <a:solidFill>
                  <a:srgbClr val="DAA8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1일, 10일</a:t>
            </a:r>
            <a:pPr algn="l" indent="0" marL="0">
              <a:lnSpc>
                <a:spcPts val="4105"/>
              </a:lnSpc>
              <a:buNone/>
            </a:pPr>
            <a:r>
              <a:rPr lang="en-US" sz="3181" b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654" dirty="0"/>
          </a:p>
        </p:txBody>
      </p:sp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00175" y="7762875"/>
            <a:ext cx="11068050" cy="1752600"/>
          </a:xfrm>
          <a:prstGeom prst="rect">
            <a:avLst/>
          </a:prstGeom>
        </p:spPr>
      </p:pic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0650" y="7962900"/>
            <a:ext cx="3324225" cy="1314450"/>
          </a:xfrm>
          <a:prstGeom prst="rect">
            <a:avLst/>
          </a:prstGeom>
        </p:spPr>
      </p:pic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38300" y="8258175"/>
            <a:ext cx="838200" cy="76200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2638425" y="8324850"/>
            <a:ext cx="1695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37"/>
              </a:lnSpc>
              <a:buNone/>
            </a:pPr>
            <a:r>
              <a:rPr lang="en-US" sz="2976" b="1" dirty="0">
                <a:solidFill>
                  <a:srgbClr val="AEC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조성</a:t>
            </a:r>
            <a:endParaRPr lang="en-US" sz="2976" dirty="0"/>
          </a:p>
        </p:txBody>
      </p:sp>
      <p:sp>
        <p:nvSpPr>
          <p:cNvPr id="35" name="Text 13"/>
          <p:cNvSpPr/>
          <p:nvPr/>
        </p:nvSpPr>
        <p:spPr>
          <a:xfrm>
            <a:off x="5038725" y="8086725"/>
            <a:ext cx="69723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904"/>
              </a:lnSpc>
              <a:buNone/>
            </a:pPr>
            <a:r>
              <a:rPr lang="en-US" sz="2698" b="1" dirty="0">
                <a:solidFill>
                  <a:srgbClr val="5E5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본촌산단 아름다운거리 자치구 보조금
</a:t>
            </a:r>
            <a:pPr algn="l" indent="0" marL="0">
              <a:lnSpc>
                <a:spcPts val="3904"/>
              </a:lnSpc>
              <a:buNone/>
            </a:pPr>
            <a:r>
              <a:rPr lang="en-US" sz="2698" b="1" dirty="0">
                <a:solidFill>
                  <a:srgbClr val="DCA1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884백만 원</a:t>
            </a:r>
            <a:pPr algn="l" indent="0" marL="0">
              <a:lnSpc>
                <a:spcPts val="3904"/>
              </a:lnSpc>
              <a:buNone/>
            </a:pPr>
            <a:r>
              <a:rPr lang="en-US" sz="2698" b="1" dirty="0">
                <a:solidFill>
                  <a:srgbClr val="5E5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교부 및 보완설계 추진(</a:t>
            </a:r>
            <a:pPr algn="l" indent="0" marL="0">
              <a:lnSpc>
                <a:spcPts val="3904"/>
              </a:lnSpc>
              <a:buNone/>
            </a:pPr>
            <a:r>
              <a:rPr lang="en-US" sz="2698" b="1" dirty="0">
                <a:solidFill>
                  <a:srgbClr val="DCA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6월~8월</a:t>
            </a:r>
            <a:pPr algn="l" indent="0" marL="0">
              <a:lnSpc>
                <a:spcPts val="3904"/>
              </a:lnSpc>
              <a:buNone/>
            </a:pPr>
            <a:r>
              <a:rPr lang="en-US" sz="3185" b="1" dirty="0">
                <a:solidFill>
                  <a:srgbClr val="5E5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698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90650" y="5124450"/>
            <a:ext cx="11077575" cy="1781175"/>
          </a:xfrm>
          <a:prstGeom prst="rect">
            <a:avLst/>
          </a:prstGeom>
        </p:spPr>
      </p:pic>
      <p:pic>
        <p:nvPicPr>
          <p:cNvPr id="3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90650" y="5295900"/>
            <a:ext cx="3324225" cy="1362075"/>
          </a:xfrm>
          <a:prstGeom prst="rect">
            <a:avLst/>
          </a:prstGeom>
        </p:spPr>
      </p:pic>
      <p:pic>
        <p:nvPicPr>
          <p:cNvPr id="3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57350" y="5648325"/>
            <a:ext cx="800100" cy="733425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2638425" y="5705475"/>
            <a:ext cx="1714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36"/>
              </a:lnSpc>
              <a:buNone/>
            </a:pPr>
            <a:r>
              <a:rPr lang="en-US" sz="3009" b="1" dirty="0">
                <a:solidFill>
                  <a:srgbClr val="B2C9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포장</a:t>
            </a:r>
            <a:endParaRPr lang="en-US" sz="3009" dirty="0"/>
          </a:p>
        </p:txBody>
      </p:sp>
      <p:sp>
        <p:nvSpPr>
          <p:cNvPr id="40" name="Text 15"/>
          <p:cNvSpPr/>
          <p:nvPr/>
        </p:nvSpPr>
        <p:spPr>
          <a:xfrm>
            <a:off x="5038725" y="5448300"/>
            <a:ext cx="60198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하남일반산단 주차장</a:t>
            </a:r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D799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221면</a:t>
            </a:r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</a:t>
            </a:r>
            <a:endParaRPr lang="en-US" sz="2948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노후도로</a:t>
            </a:r>
            <a:endParaRPr lang="en-US" sz="2948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788" b="1" dirty="0">
                <a:solidFill>
                  <a:srgbClr val="D79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3.5km</a:t>
            </a:r>
            <a:pPr algn="l" indent="0" marL="0">
              <a:lnSpc>
                <a:spcPts val="4500"/>
              </a:lnSpc>
              <a:buNone/>
            </a:pPr>
            <a:endParaRPr lang="en-US" sz="2948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시행(</a:t>
            </a:r>
            <a:endParaRPr lang="en-US" sz="2948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2948" b="1" dirty="0">
                <a:solidFill>
                  <a:srgbClr val="D8A8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6월~8월</a:t>
            </a:r>
            <a:pPr algn="l" indent="0" marL="0">
              <a:lnSpc>
                <a:spcPts val="4500"/>
              </a:lnSpc>
              <a:buNone/>
            </a:pPr>
            <a:r>
              <a:rPr lang="en-US" sz="3622" b="1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948" dirty="0"/>
          </a:p>
        </p:txBody>
      </p:sp>
      <p:sp>
        <p:nvSpPr>
          <p:cNvPr id="41" name="Shape 16"/>
          <p:cNvSpPr/>
          <p:nvPr/>
        </p:nvSpPr>
        <p:spPr>
          <a:xfrm>
            <a:off x="962025" y="3200400"/>
            <a:ext cx="11915775" cy="1200150"/>
          </a:xfrm>
          <a:prstGeom prst="roundRect">
            <a:avLst>
              <a:gd name="adj" fmla="val 8929"/>
            </a:avLst>
          </a:prstGeom>
          <a:solidFill>
            <a:srgbClr val="114587"/>
          </a:solidFill>
          <a:ln w="9525">
            <a:solidFill>
              <a:srgbClr val="315A83"/>
            </a:solidFill>
            <a:prstDash val="solid"/>
          </a:ln>
        </p:spPr>
      </p:sp>
      <p:sp>
        <p:nvSpPr>
          <p:cNvPr id="42" name="Text 17"/>
          <p:cNvSpPr/>
          <p:nvPr/>
        </p:nvSpPr>
        <p:spPr>
          <a:xfrm>
            <a:off x="4038600" y="3400425"/>
            <a:ext cx="5800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735"/>
              </a:lnSpc>
              <a:buNone/>
            </a:pPr>
            <a:r>
              <a:rPr lang="en-US" sz="4007" b="1" dirty="0">
                <a:solidFill>
                  <a:srgbClr val="BED1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산업단지 환경 개선</a:t>
            </a:r>
            <a:endParaRPr lang="en-US" sz="4007" dirty="0"/>
          </a:p>
        </p:txBody>
      </p:sp>
      <p:sp>
        <p:nvSpPr>
          <p:cNvPr id="43" name="Shape 18"/>
          <p:cNvSpPr/>
          <p:nvPr/>
        </p:nvSpPr>
        <p:spPr>
          <a:xfrm>
            <a:off x="952500" y="781050"/>
            <a:ext cx="4819650" cy="704850"/>
          </a:xfrm>
          <a:prstGeom prst="roundRect">
            <a:avLst>
              <a:gd name="adj" fmla="val 47297"/>
            </a:avLst>
          </a:prstGeom>
          <a:solidFill>
            <a:srgbClr val="E2E8EE"/>
          </a:solidFill>
          <a:ln w="9525">
            <a:solidFill>
              <a:srgbClr val="E8EBEF"/>
            </a:solidFill>
            <a:prstDash val="solid"/>
          </a:ln>
        </p:spPr>
      </p:sp>
      <p:sp>
        <p:nvSpPr>
          <p:cNvPr id="44" name="Text 19"/>
          <p:cNvSpPr/>
          <p:nvPr/>
        </p:nvSpPr>
        <p:spPr>
          <a:xfrm>
            <a:off x="1285875" y="847725"/>
            <a:ext cx="42195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527" b="1" dirty="0">
                <a:solidFill>
                  <a:srgbClr val="7679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산단 환경 개선 및 민생 지원</a:t>
            </a:r>
            <a:endParaRPr lang="en-US" sz="2527" dirty="0"/>
          </a:p>
        </p:txBody>
      </p:sp>
      <p:sp>
        <p:nvSpPr>
          <p:cNvPr id="45" name="Text 20"/>
          <p:cNvSpPr/>
          <p:nvPr/>
        </p:nvSpPr>
        <p:spPr>
          <a:xfrm>
            <a:off x="24450675" y="14239875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1534" dirty="0">
                <a:solidFill>
                  <a:srgbClr val="9696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GeminiNotebook</a:t>
            </a:r>
            <a:endParaRPr lang="en-US" sz="1534" dirty="0"/>
          </a:p>
        </p:txBody>
      </p:sp>
      <p:sp>
        <p:nvSpPr>
          <p:cNvPr id="46" name="Text 21"/>
          <p:cNvSpPr/>
          <p:nvPr/>
        </p:nvSpPr>
        <p:spPr>
          <a:xfrm>
            <a:off x="1000125" y="1676400"/>
            <a:ext cx="24155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03"/>
              </a:lnSpc>
              <a:buNone/>
            </a:pPr>
            <a:r>
              <a:rPr lang="en-US" sz="5400" b="1" dirty="0">
                <a:solidFill>
                  <a:srgbClr val="5959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산단 재생과 에너지 복지 지원으로 기업과 시민 체감도를 높이겠습니다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2026-10-16T04:09:47Z</dcterms:created>
  <dcterms:modified xsi:type="dcterms:W3CDTF">2026-10-16T04:09:47Z</dcterms:modified>
</cp:coreProperties>
</file>