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651A2"/>
                </a:solidFill>
                <a:latin typeface="맑은 고딕"/>
                <a:ea typeface="맑은 고딕"/>
                <a:cs typeface="맑은 고딕"/>
              </a:defRPr>
            </a:pPr>
            <a:r>
              <a:t>■  미래 신산업 생태계 조성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defRPr>
            </a:pPr>
            <a:r>
              <a:t>AI·반도체와 미래차 중심의 신산업 기반을 마련하고 투자유치를 강화하겠습니다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394960" cy="4709160"/>
          </a:xfrm>
          <a:prstGeom prst="rect">
            <a:avLst/>
          </a:prstGeom>
          <a:solidFill>
            <a:srgbClr val="E6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394960" cy="502920"/>
          </a:xfrm>
          <a:prstGeom prst="rect">
            <a:avLst/>
          </a:prstGeom>
          <a:solidFill>
            <a:srgbClr val="1651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●  AI·모빌리티 실증 기반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1097280" cy="320040"/>
          </a:xfrm>
          <a:prstGeom prst="roundRect">
            <a:avLst/>
          </a:prstGeom>
          <a:solidFill>
            <a:srgbClr val="1651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실증 도시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광주 AI 실증도시 기획 용역 계약 추진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(6월 중)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73552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410712"/>
            <a:ext cx="1097280" cy="320040"/>
          </a:xfrm>
          <a:prstGeom prst="roundRect">
            <a:avLst/>
          </a:prstGeom>
          <a:solidFill>
            <a:srgbClr val="1651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인재 발굴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40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제8회 한국코드페어 청소년 참가 접수 개시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(6월)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81144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4718304"/>
            <a:ext cx="1097280" cy="320040"/>
          </a:xfrm>
          <a:prstGeom prst="roundRect">
            <a:avLst/>
          </a:prstGeom>
          <a:solidFill>
            <a:srgbClr val="1651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기업 매칭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56632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자율주행 자동차 실증기업 매칭데이 개최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(6월 초)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095" y="1325880"/>
            <a:ext cx="5394960" cy="4709160"/>
          </a:xfrm>
          <a:prstGeom prst="rect">
            <a:avLst/>
          </a:prstGeom>
          <a:solidFill>
            <a:srgbClr val="E6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1325880"/>
            <a:ext cx="5394960" cy="502920"/>
          </a:xfrm>
          <a:prstGeom prst="rect">
            <a:avLst/>
          </a:prstGeom>
          <a:solidFill>
            <a:srgbClr val="00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●  양자·투자유치 및 수출 지원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0975" y="1965960"/>
            <a:ext cx="1188720" cy="1143000"/>
          </a:xfrm>
          <a:prstGeom prst="rect">
            <a:avLst/>
          </a:prstGeom>
          <a:solidFill>
            <a:srgbClr val="00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[양자 지정]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6855" y="1965960"/>
            <a:ext cx="37033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ctr"/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전문가위원회 심사 추진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(6월 중)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0975" y="3273552"/>
            <a:ext cx="1188720" cy="1143000"/>
          </a:xfrm>
          <a:prstGeom prst="rect">
            <a:avLst/>
          </a:prstGeom>
          <a:solidFill>
            <a:srgbClr val="00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[투자 유치]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56855" y="3273552"/>
            <a:ext cx="37033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ctr"/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광주광역시 투자유치위원회 개최 및 보조금 심의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(6월 15일~16일)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30975" y="4581144"/>
            <a:ext cx="1188720" cy="1143000"/>
          </a:xfrm>
          <a:prstGeom prst="rect">
            <a:avLst/>
          </a:prstGeom>
          <a:solidFill>
            <a:srgbClr val="00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[수출 지원]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56855" y="4581144"/>
            <a:ext cx="37033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ctr"/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제5회 광주·전남 수출기업 페스티벌 참가 지원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(6월 10일~12일)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t>※ 보충: AI 실증도시 기획은 전액 국비 5억원으로 추진하며, 투자유치위원회는 보조금 지급 4건을 심의합니다.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651A2"/>
                </a:solidFill>
                <a:latin typeface="맑은 고딕"/>
                <a:ea typeface="맑은 고딕"/>
                <a:cs typeface="맑은 고딕"/>
              </a:defRPr>
            </a:pPr>
            <a:r>
              <a:t>■  산단 환경 개선 및 민생 지원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defRPr>
            </a:pPr>
            <a:r>
              <a:t>노후 산단 재생과 에너지 복지 지원으로 기업과 시민 체감도를 높이겠습니다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394960" cy="4709160"/>
          </a:xfrm>
          <a:prstGeom prst="rect">
            <a:avLst/>
          </a:prstGeom>
          <a:solidFill>
            <a:srgbClr val="E6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394960" cy="502920"/>
          </a:xfrm>
          <a:prstGeom prst="rect">
            <a:avLst/>
          </a:prstGeom>
          <a:solidFill>
            <a:srgbClr val="1651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●  노후 산업단지 환경 개선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188720" cy="1143000"/>
          </a:xfrm>
          <a:prstGeom prst="rect">
            <a:avLst/>
          </a:prstGeom>
          <a:solidFill>
            <a:srgbClr val="1651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[도로 포장]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965960"/>
            <a:ext cx="37033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ctr"/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하남일반산단 주차장 221면 및 노후도로 3.5km 포장 시행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(6월~8월)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73552"/>
            <a:ext cx="1188720" cy="1143000"/>
          </a:xfrm>
          <a:prstGeom prst="rect">
            <a:avLst/>
          </a:prstGeom>
          <a:solidFill>
            <a:srgbClr val="1651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[거리 조성]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3273552"/>
            <a:ext cx="37033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ctr"/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본촌산단 아름다운거리 자치구 보조금 884백만원 교부 및 보완설계 추진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(6월~8월)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81144"/>
            <a:ext cx="1188720" cy="1143000"/>
          </a:xfrm>
          <a:prstGeom prst="rect">
            <a:avLst/>
          </a:prstGeom>
          <a:solidFill>
            <a:srgbClr val="1651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[사내 대학]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4581144"/>
            <a:ext cx="37033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ctr"/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투자유치 및 직무역량 강화를 위한 사내대학 프로그램 운영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(6월 1일, 10일)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095" y="1325880"/>
            <a:ext cx="5394960" cy="4709160"/>
          </a:xfrm>
          <a:prstGeom prst="rect">
            <a:avLst/>
          </a:prstGeom>
          <a:solidFill>
            <a:srgbClr val="E6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325880"/>
            <a:ext cx="5394960" cy="502920"/>
          </a:xfrm>
          <a:prstGeom prst="rect">
            <a:avLst/>
          </a:prstGeom>
          <a:solidFill>
            <a:srgbClr val="00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●  민생 에너지 지원 및 산단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0975" y="1965960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68135" y="2103120"/>
            <a:ext cx="1097280" cy="320040"/>
          </a:xfrm>
          <a:prstGeom prst="roundRect">
            <a:avLst/>
          </a:prstGeom>
          <a:solidFill>
            <a:srgbClr val="00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실태 조사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8135" y="2441448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광융합산업집적화단지 21개 기업 32필지 실태조사 추진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(5월~6월)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0975" y="3273552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68135" y="3410712"/>
            <a:ext cx="1097280" cy="320040"/>
          </a:xfrm>
          <a:prstGeom prst="roundRect">
            <a:avLst/>
          </a:prstGeom>
          <a:solidFill>
            <a:srgbClr val="00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관련 회의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8135" y="3749040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PBV산업 생태계 조성을 위한 관계기관 회의 개최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(6월 중)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0975" y="4581144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68135" y="4718304"/>
            <a:ext cx="1097280" cy="320040"/>
          </a:xfrm>
          <a:prstGeom prst="roundRect">
            <a:avLst/>
          </a:prstGeom>
          <a:solidFill>
            <a:srgbClr val="00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복지 신청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8135" y="5056632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2026년도 정부 에너지바우처 신규 신청 접수 </a:t>
            </a:r>
            <a:r>
              <a:rPr sz="1300" b="1">
                <a:solidFill>
                  <a:srgbClr val="FAA624"/>
                </a:solidFill>
                <a:latin typeface="맑은 고딕"/>
                <a:ea typeface="맑은 고딕"/>
                <a:cs typeface="맑은 고딕"/>
              </a:rPr>
              <a:t>(6월 15일~12월 31일)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t>※ 보충: 에너지바우처는 세대원 수에 따라 295.2천원에서 701.3천원까지 차등 지원합니다.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